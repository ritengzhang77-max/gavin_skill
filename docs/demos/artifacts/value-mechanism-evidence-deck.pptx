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3474720" cy="3474720"/>
          </a:xfrm>
          <a:prstGeom prst="ellipse">
            <a:avLst/>
          </a:prstGeom>
          <a:solidFill>
            <a:srgbClr val="7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64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4E6C5"/>
                </a:solidFill>
                <a:latin typeface="DejaVu Sans"/>
              </a:rPr>
              <a:t>RESEARCH METHODS · MECHANISTIC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1498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4F8FC"/>
                </a:solidFill>
                <a:latin typeface="DejaVu Sans"/>
              </a:rPr>
              <a:t>From behavioral association
to a mechanistic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87752"/>
            <a:ext cx="8778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AFC2D2"/>
                </a:solidFill>
                <a:latin typeface="DejaVu Sans"/>
              </a:rPr>
              <a:t>An evidence standard for deciding whether a sparse feature participates in value-guided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3913632"/>
            <a:ext cx="2331720" cy="1115568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7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105656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FB7FF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434840"/>
            <a:ext cx="1993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DejaVu Sans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431596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3913632"/>
            <a:ext cx="2331720" cy="1115568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6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4105656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4E6C5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4434840"/>
            <a:ext cx="1993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DejaVu Sans"/>
              </a:rP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431596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913632"/>
            <a:ext cx="2331720" cy="1115568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FF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4105656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B87A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4434840"/>
            <a:ext cx="1993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DejaVu Sans"/>
              </a:rPr>
              <a:t>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31596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3913632"/>
            <a:ext cx="2331720" cy="1115568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EE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105656"/>
            <a:ext cx="1993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E8FB7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434840"/>
            <a:ext cx="1993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DejaVu Sans"/>
              </a:rPr>
              <a:t>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50992"/>
            <a:ext cx="896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4E6C5"/>
                </a:solidFill>
                <a:latin typeface="DejaVu Sans"/>
              </a:rPr>
              <a:t>CORE PRINCIPLE  </a:t>
            </a:r>
            <a:r>
              <a:rPr sz="1300" b="0">
                <a:solidFill>
                  <a:srgbClr val="F4F8FC"/>
                </a:solidFill>
                <a:latin typeface="DejaVu Sans"/>
              </a:rPr>
              <a:t>A feature earns a stronger name only when independent evidence agrees.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120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FC2D2"/>
                </a:solidFill>
                <a:latin typeface="DejaVu Sans"/>
              </a:rPr>
              <a:t>VALUE–ACTION MECHANISTIC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FC2D2"/>
                </a:solidFill>
                <a:latin typeface="DejaVu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3474720" cy="3474720"/>
          </a:xfrm>
          <a:prstGeom prst="ellipse">
            <a:avLst/>
          </a:prstGeom>
          <a:solidFill>
            <a:srgbClr val="7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64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4E6C5"/>
                </a:solidFill>
                <a:latin typeface="DejaVu Sans"/>
              </a:rPr>
              <a:t>EVIDENCE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110185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DejaVu Sans"/>
              </a:rPr>
              <a:t>What would count as a value mechanism?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72184"/>
            <a:ext cx="103327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FC2D2"/>
                </a:solidFill>
                <a:latin typeface="DejaVu Sans"/>
              </a:rPr>
              <a:t>A directional correlation is the beginning of the analysis—not the conclusion.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737360"/>
            <a:ext cx="10972800" cy="594360"/>
          </a:xfrm>
          <a:prstGeom prst="roundRect">
            <a:avLst/>
          </a:prstGeom>
          <a:solidFill>
            <a:srgbClr val="0D2030"/>
          </a:solidFill>
          <a:ln w="12700">
            <a:solidFill>
              <a:srgbClr val="29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6537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FB7FF"/>
                </a:solidFill>
                <a:latin typeface="DejaVu Sans"/>
              </a:rPr>
              <a:t>SIGNED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37943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DejaVu Serif"/>
              </a:rPr>
              <a:t>D_f(x) = s(x)[Δ_f,A(x) − Δ_f,B(x)]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6537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AFC2D2"/>
                </a:solidFill>
                <a:latin typeface="DejaVu Sans"/>
              </a:rPr>
              <a:t>D_f(x) &gt;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633472"/>
            <a:ext cx="2487168" cy="226771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7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816352"/>
            <a:ext cx="658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7FB7FF"/>
                </a:solidFill>
                <a:latin typeface="DejaVu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282696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DejaVu Sans"/>
              </a:rPr>
              <a:t>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730752"/>
            <a:ext cx="2084831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The signed contrast follows the value-side action across option order.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3511296"/>
            <a:ext cx="329184" cy="329184"/>
          </a:xfrm>
          <a:prstGeom prst="ellipse">
            <a:avLst/>
          </a:prstGeom>
          <a:solidFill>
            <a:srgbClr val="07131F"/>
          </a:solidFill>
          <a:ln w="12700">
            <a:solidFill>
              <a:srgbClr val="29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3543300"/>
            <a:ext cx="2834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2633472"/>
            <a:ext cx="2487168" cy="226771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6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816352"/>
            <a:ext cx="658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64E6C5"/>
                </a:solidFill>
                <a:latin typeface="DejaVu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282696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DejaVu Sans"/>
              </a:rPr>
              <a:t>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730752"/>
            <a:ext cx="2084831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Activity tracks the relevant option span rather than prompt scaffolding.</a:t>
            </a:r>
          </a:p>
        </p:txBody>
      </p:sp>
      <p:sp>
        <p:nvSpPr>
          <p:cNvPr id="21" name="Oval 20"/>
          <p:cNvSpPr/>
          <p:nvPr/>
        </p:nvSpPr>
        <p:spPr>
          <a:xfrm>
            <a:off x="5824728" y="3511296"/>
            <a:ext cx="329184" cy="329184"/>
          </a:xfrm>
          <a:prstGeom prst="ellipse">
            <a:avLst/>
          </a:prstGeom>
          <a:solidFill>
            <a:srgbClr val="07131F"/>
          </a:solidFill>
          <a:ln w="12700">
            <a:solidFill>
              <a:srgbClr val="29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3016" y="3543300"/>
            <a:ext cx="2834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33472"/>
            <a:ext cx="2487168" cy="226771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FF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816352"/>
            <a:ext cx="658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B87A"/>
                </a:solidFill>
                <a:latin typeface="DejaVu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82696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DejaVu Sans"/>
              </a:rPr>
              <a:t>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30752"/>
            <a:ext cx="2084831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Evidence appears before the answer, where it could influence the decision.</a:t>
            </a:r>
          </a:p>
        </p:txBody>
      </p:sp>
      <p:sp>
        <p:nvSpPr>
          <p:cNvPr id="27" name="Oval 26"/>
          <p:cNvSpPr/>
          <p:nvPr/>
        </p:nvSpPr>
        <p:spPr>
          <a:xfrm>
            <a:off x="8586216" y="3511296"/>
            <a:ext cx="329184" cy="329184"/>
          </a:xfrm>
          <a:prstGeom prst="ellipse">
            <a:avLst/>
          </a:prstGeom>
          <a:solidFill>
            <a:srgbClr val="07131F"/>
          </a:solidFill>
          <a:ln w="12700">
            <a:solidFill>
              <a:srgbClr val="29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4504" y="3543300"/>
            <a:ext cx="2834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87968" y="2633472"/>
            <a:ext cx="2487168" cy="226771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EE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2816352"/>
            <a:ext cx="658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EE8FB7"/>
                </a:solidFill>
                <a:latin typeface="DejaVu Sa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3282696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DejaVu Sans"/>
              </a:rPr>
              <a:t>INTERVENTION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730752"/>
            <a:ext cx="2084831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Ablation or patching changes the choice under matched controls.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5230368"/>
            <a:ext cx="10972800" cy="850392"/>
          </a:xfrm>
          <a:prstGeom prst="roundRect">
            <a:avLst/>
          </a:prstGeom>
          <a:solidFill>
            <a:srgbClr val="123043"/>
          </a:solidFill>
          <a:ln w="12700">
            <a:solidFill>
              <a:srgbClr val="6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440680"/>
            <a:ext cx="104698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4E6C5"/>
                </a:solidFill>
                <a:latin typeface="DejaVu Sans"/>
              </a:rPr>
              <a:t>CLAIM RULE  </a:t>
            </a:r>
            <a:r>
              <a:rPr sz="1400" b="0">
                <a:solidFill>
                  <a:srgbClr val="F4F8FC"/>
                </a:solidFill>
                <a:latin typeface="DejaVu Sans"/>
              </a:rPr>
              <a:t>Call it a candidate until direction, location, timing, and intervention converge.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5120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FC2D2"/>
                </a:solidFill>
                <a:latin typeface="DejaVu Sans"/>
              </a:rPr>
              <a:t>VALUE–ACTION MECHANISTIC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FC2D2"/>
                </a:solidFill>
                <a:latin typeface="DejaVu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3474720" cy="3474720"/>
          </a:xfrm>
          <a:prstGeom prst="ellipse">
            <a:avLst/>
          </a:prstGeom>
          <a:solidFill>
            <a:srgbClr val="7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64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FFB87A"/>
                </a:solidFill>
                <a:latin typeface="DejaVu Sans"/>
              </a:rPr>
              <a:t>CONFOUND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110185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DejaVu Sans"/>
              </a:rPr>
              <a:t>One activation gap, three competing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72184"/>
            <a:ext cx="103327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FC2D2"/>
                </a:solidFill>
                <a:latin typeface="DejaVu Sans"/>
              </a:rPr>
              <a:t>A ranked feature is ambiguous until competing explanations are tested.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755648"/>
            <a:ext cx="3657600" cy="4315968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7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FB7FF"/>
                </a:solidFill>
                <a:latin typeface="DejaVu Sans"/>
              </a:rPr>
              <a:t>THE TEMPTING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50592"/>
            <a:ext cx="28803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4F8FC"/>
                </a:solidFill>
                <a:latin typeface="DejaVu Sans"/>
              </a:rPr>
              <a:t>“This feature
represents the value.”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47872"/>
            <a:ext cx="29260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FC2D2"/>
                </a:solidFill>
                <a:latin typeface="DejaVu Sans"/>
              </a:rPr>
              <a:t>Observed: activation is larger when the model chooses the value-consistent 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773168"/>
            <a:ext cx="2926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B87A"/>
                </a:solidFill>
                <a:latin typeface="DejaVu Sans"/>
              </a:rPr>
              <a:t>Useful evidence—
but not yet identity or causality.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55648"/>
            <a:ext cx="7004304" cy="1225296"/>
          </a:xfrm>
          <a:prstGeom prst="roundRect">
            <a:avLst/>
          </a:prstGeom>
          <a:solidFill>
            <a:srgbClr val="152C40"/>
          </a:solidFill>
          <a:ln w="12700">
            <a:solidFill>
              <a:srgbClr val="7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956816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FB7FF"/>
                </a:solidFill>
                <a:latin typeface="DejaVu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93852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DejaVu Sans"/>
              </a:rPr>
              <a:t>PROMPT SCAFFOLD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920240"/>
            <a:ext cx="3383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The feature tracks answer format, option order, or repeated instructions.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200400"/>
            <a:ext cx="7004304" cy="1225296"/>
          </a:xfrm>
          <a:prstGeom prst="roundRect">
            <a:avLst/>
          </a:prstGeom>
          <a:solidFill>
            <a:srgbClr val="152C40"/>
          </a:solidFill>
          <a:ln w="12700">
            <a:solidFill>
              <a:srgbClr val="6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340156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4E6C5"/>
                </a:solidFill>
                <a:latin typeface="DejaVu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338328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DejaVu Sans"/>
              </a:rPr>
              <a:t>CONTENT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3364992"/>
            <a:ext cx="3383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The feature recognizes words in one option without participating in choice.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645152"/>
            <a:ext cx="7004304" cy="1225296"/>
          </a:xfrm>
          <a:prstGeom prst="roundRect">
            <a:avLst/>
          </a:prstGeom>
          <a:solidFill>
            <a:srgbClr val="152C40"/>
          </a:solidFill>
          <a:ln w="12700">
            <a:solidFill>
              <a:srgbClr val="EE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484632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E8FB7"/>
                </a:solidFill>
                <a:latin typeface="DejaVu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482803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DejaVu Sans"/>
              </a:rPr>
              <a:t>DECISION CONSEQUENCE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09744"/>
            <a:ext cx="3383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FC2D2"/>
                </a:solidFill>
                <a:latin typeface="DejaVu Sans"/>
              </a:rPr>
              <a:t>The feature activates after the answer direction is already determined.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120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FC2D2"/>
                </a:solidFill>
                <a:latin typeface="DejaVu Sans"/>
              </a:rPr>
              <a:t>VALUE–ACTION MECHANISTIC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FC2D2"/>
                </a:solidFill>
                <a:latin typeface="DejaVu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3474720" cy="3474720"/>
          </a:xfrm>
          <a:prstGeom prst="ellipse">
            <a:avLst/>
          </a:prstGeom>
          <a:solidFill>
            <a:srgbClr val="7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64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EE8FB7"/>
                </a:solidFill>
                <a:latin typeface="DejaVu Sans"/>
              </a:rPr>
              <a:t>CLAIM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110185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DejaVu Sans"/>
              </a:rPr>
              <a:t>Match the claim to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72184"/>
            <a:ext cx="103327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AFC2D2"/>
                </a:solidFill>
                <a:latin typeface="DejaVu Sans"/>
              </a:rPr>
              <a:t>The vocabulary should change as the evidence stack becomes more demanding.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74519"/>
            <a:ext cx="3310128" cy="327355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7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03120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FB7FF"/>
                </a:solidFill>
                <a:latin typeface="DejaVu Sans"/>
              </a:rPr>
              <a:t>DESCRIPTIVE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6896"/>
            <a:ext cx="288950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4F8FC"/>
                </a:solidFill>
                <a:latin typeface="DejaVu Sans"/>
              </a:rPr>
              <a:t>associated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74720"/>
            <a:ext cx="288950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AFC2D2"/>
                </a:solidFill>
                <a:latin typeface="DejaVu Sans"/>
              </a:rPr>
              <a:t>Signed activation or contribution differs across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55371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FB7FF"/>
                </a:solidFill>
                <a:latin typeface="DejaVu Sans"/>
              </a:rPr>
              <a:t>claim ceiling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10128" cy="327355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6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103120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E6C5"/>
                </a:solidFill>
                <a:latin typeface="DejaVu Sans"/>
              </a:rPr>
              <a:t>LOCALIZED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96896"/>
            <a:ext cx="288950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4F8FC"/>
                </a:solidFill>
                <a:latin typeface="DejaVu Sans"/>
              </a:rPr>
              <a:t>decision-relevant 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474720"/>
            <a:ext cx="288950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AFC2D2"/>
                </a:solidFill>
                <a:latin typeface="DejaVu Sans"/>
              </a:rPr>
              <a:t>Direction survives controls and appears at the relevant span or pre-answer site.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55371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E6C5"/>
                </a:solidFill>
                <a:latin typeface="DejaVu Sans"/>
              </a:rPr>
              <a:t>claim ceiling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874519"/>
            <a:ext cx="3310128" cy="3273552"/>
          </a:xfrm>
          <a:prstGeom prst="roundRect">
            <a:avLst/>
          </a:prstGeom>
          <a:solidFill>
            <a:srgbClr val="102436"/>
          </a:solidFill>
          <a:ln w="12700">
            <a:solidFill>
              <a:srgbClr val="EE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103120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EE8FB7"/>
                </a:solidFill>
                <a:latin typeface="DejaVu Sans"/>
              </a:rPr>
              <a:t>CAUSAL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596896"/>
            <a:ext cx="288950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4F8FC"/>
                </a:solidFill>
                <a:latin typeface="DejaVu Sans"/>
              </a:rPr>
              <a:t>mechanistic contributor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474720"/>
            <a:ext cx="288950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AFC2D2"/>
                </a:solidFill>
                <a:latin typeface="DejaVu Sans"/>
              </a:rPr>
              <a:t>Matched intervention changes the decision in the predicted direction.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55371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EE8FB7"/>
                </a:solidFill>
                <a:latin typeface="DejaVu Sans"/>
              </a:rPr>
              <a:t>claim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328416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3" y="3328416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AFC2D2"/>
                </a:solidFill>
                <a:latin typeface="DejaVu San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5504688"/>
            <a:ext cx="10972800" cy="530352"/>
          </a:xfrm>
          <a:prstGeom prst="roundRect">
            <a:avLst/>
          </a:prstGeom>
          <a:solidFill>
            <a:srgbClr val="0D2030"/>
          </a:solidFill>
          <a:ln w="12700">
            <a:solidFill>
              <a:srgbClr val="29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5641848"/>
            <a:ext cx="10515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F4F8FC"/>
                </a:solidFill>
                <a:latin typeface="DejaVu Sans"/>
              </a:rPr>
              <a:t>Mixed evidence is a result: preserve disagreement instead of averaging it into certainty.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5120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FC2D2"/>
                </a:solidFill>
                <a:latin typeface="DejaVu Sans"/>
              </a:rPr>
              <a:t>VALUE–ACTION MECHANISTIC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FC2D2"/>
                </a:solidFill>
                <a:latin typeface="DejaVu Sans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