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34747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950" b="1">
                <a:solidFill>
                  <a:srgbClr val="8BD3FF"/>
                </a:solidFill>
              </a:defRPr>
            </a:pPr>
            <a:r>
              <a:t>CHECKPOINT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0789920" cy="102412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2800" b="1">
                <a:solidFill>
                  <a:srgbClr val="EDF4FF"/>
                </a:solidFill>
              </a:defRPr>
            </a:pPr>
            <a:r>
              <a:t>Skills turn long research threads into durable paper artifacts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810512"/>
            <a:ext cx="1033272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550" b="0">
                <a:solidFill>
                  <a:srgbClr val="D6ECFF"/>
                </a:solidFill>
              </a:defRPr>
            </a:pPr>
            <a:r>
              <a:t>Discord context → local evidence → skill-specific artifact → Thread Canvas → paper/deck plan.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606040"/>
            <a:ext cx="1572768" cy="292608"/>
          </a:xfrm>
          <a:prstGeom prst="roundRect">
            <a:avLst/>
          </a:prstGeom>
          <a:solidFill>
            <a:srgbClr val="0F2544"/>
          </a:solidFill>
          <a:ln>
            <a:solidFill>
              <a:srgbClr val="3E6D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EDF4FF"/>
                </a:solidFill>
              </a:defRPr>
            </a:pPr>
            <a:r>
              <a:t>Nonlinear SAE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96312" y="2606040"/>
            <a:ext cx="1572768" cy="292608"/>
          </a:xfrm>
          <a:prstGeom prst="roundRect">
            <a:avLst/>
          </a:prstGeom>
          <a:solidFill>
            <a:srgbClr val="0F2544"/>
          </a:solidFill>
          <a:ln>
            <a:solidFill>
              <a:srgbClr val="3E6D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EDF4FF"/>
                </a:solidFill>
              </a:defRPr>
            </a:pPr>
            <a:r>
              <a:t>Value 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8264" y="2606040"/>
            <a:ext cx="1572768" cy="292608"/>
          </a:xfrm>
          <a:prstGeom prst="roundRect">
            <a:avLst/>
          </a:prstGeom>
          <a:solidFill>
            <a:srgbClr val="0F2544"/>
          </a:solidFill>
          <a:ln>
            <a:solidFill>
              <a:srgbClr val="3E6D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EDF4FF"/>
                </a:solidFill>
              </a:defRPr>
            </a:pPr>
            <a:r>
              <a:t>Model Merging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0216" y="2606040"/>
            <a:ext cx="1572768" cy="292608"/>
          </a:xfrm>
          <a:prstGeom prst="roundRect">
            <a:avLst/>
          </a:prstGeom>
          <a:solidFill>
            <a:srgbClr val="0F2544"/>
          </a:solidFill>
          <a:ln>
            <a:solidFill>
              <a:srgbClr val="3E6D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EDF4FF"/>
                </a:solidFill>
              </a:defRPr>
            </a:pPr>
            <a:r>
              <a:t>Branch Specialization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246120"/>
            <a:ext cx="3474720" cy="1417320"/>
          </a:xfrm>
          <a:prstGeom prst="roundRect">
            <a:avLst/>
          </a:prstGeom>
          <a:solidFill>
            <a:srgbClr val="121B31"/>
          </a:solidFill>
          <a:ln>
            <a:solidFill>
              <a:srgbClr val="2A3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3374136"/>
            <a:ext cx="3145536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250" b="1">
                <a:solidFill>
                  <a:srgbClr val="EDF4FF"/>
                </a:solidFill>
              </a:defRPr>
            </a:pPr>
            <a:r>
              <a:t>Core 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3749039"/>
            <a:ext cx="3145536" cy="79552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50" b="0">
                <a:solidFill>
                  <a:srgbClr val="D6ECFF"/>
                </a:solidFill>
              </a:defRPr>
            </a:pPr>
            <a:r>
              <a:t>Discord thread → local artifacts → skill-guided output → curated Thread Canvas.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3246120"/>
            <a:ext cx="3474720" cy="1417320"/>
          </a:xfrm>
          <a:prstGeom prst="roundRect">
            <a:avLst/>
          </a:prstGeom>
          <a:solidFill>
            <a:srgbClr val="121B31"/>
          </a:solidFill>
          <a:ln>
            <a:solidFill>
              <a:srgbClr val="2A3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3374136"/>
            <a:ext cx="3145536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250" b="1">
                <a:solidFill>
                  <a:srgbClr val="EDF4FF"/>
                </a:solidFill>
              </a:defRPr>
            </a:pPr>
            <a:r>
              <a:t>Artifact rule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3749039"/>
            <a:ext cx="3145536" cy="79552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50" b="0">
                <a:solidFill>
                  <a:srgbClr val="D6ECFF"/>
                </a:solidFill>
              </a:defRPr>
            </a:pPr>
            <a:r>
              <a:t>Show the exact PDF/HTML/PPTX that supports the next decision.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3246120"/>
            <a:ext cx="3474720" cy="1417320"/>
          </a:xfrm>
          <a:prstGeom prst="roundRect">
            <a:avLst/>
          </a:prstGeom>
          <a:solidFill>
            <a:srgbClr val="121B31"/>
          </a:solidFill>
          <a:ln>
            <a:solidFill>
              <a:srgbClr val="2A3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1" y="3374136"/>
            <a:ext cx="3145536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250" b="1">
                <a:solidFill>
                  <a:srgbClr val="EDF4FF"/>
                </a:solidFill>
              </a:defRPr>
            </a:pPr>
            <a:r>
              <a:t>Claim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3749039"/>
            <a:ext cx="3145536" cy="79552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50" b="0">
                <a:solidFill>
                  <a:srgbClr val="D6ECFF"/>
                </a:solidFill>
              </a:defRPr>
            </a:pPr>
            <a:r>
              <a:t>Keep evidence classes and overclaim boundaries visible.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900" b="0">
                <a:solidFill>
                  <a:srgbClr val="9FB3D1"/>
                </a:solidFill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34747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950" b="1">
                <a:solidFill>
                  <a:srgbClr val="63748B"/>
                </a:solidFill>
              </a:defRPr>
            </a:pPr>
            <a:r>
              <a:t>RESEARCH PROGRAMS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0789920" cy="102412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2800" b="1">
                <a:solidFill>
                  <a:srgbClr val="0F2B58"/>
                </a:solidFill>
              </a:defRPr>
            </a:pPr>
            <a:r>
              <a:t>Near-real research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810512"/>
            <a:ext cx="1033272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550" b="0">
                <a:solidFill>
                  <a:srgbClr val="172033"/>
                </a:solidFill>
              </a:defRPr>
            </a:pPr>
            <a:r>
              <a:t>Nonlinear SAE, Value Action, Model Merging, and Branch Specialization map to concrete paper/deck nodes.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514600"/>
            <a:ext cx="5257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F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642616"/>
            <a:ext cx="4928616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250" b="1">
                <a:solidFill>
                  <a:srgbClr val="0F2B58"/>
                </a:solidFill>
              </a:defRPr>
            </a:pPr>
            <a:r>
              <a:t>Nonlinear SAE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3017520"/>
            <a:ext cx="4928616" cy="429767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50" b="0">
                <a:solidFill>
                  <a:srgbClr val="172033"/>
                </a:solidFill>
              </a:defRPr>
            </a:pPr>
            <a:r>
              <a:t>Do residual/nonlinear encoders improve EV–L0 tradeoffs by support selection?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514600"/>
            <a:ext cx="5257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F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1" y="2642616"/>
            <a:ext cx="4928616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250" b="1">
                <a:solidFill>
                  <a:srgbClr val="0F2B58"/>
                </a:solidFill>
              </a:defRPr>
            </a:pPr>
            <a:r>
              <a:t>Value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1" y="3017520"/>
            <a:ext cx="4928616" cy="429767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50" b="0">
                <a:solidFill>
                  <a:srgbClr val="172033"/>
                </a:solidFill>
              </a:defRPr>
            </a:pPr>
            <a:r>
              <a:t>Can sparse features track value/action commitments before the answer?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886200"/>
            <a:ext cx="5257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F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4014215"/>
            <a:ext cx="4928616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250" b="1">
                <a:solidFill>
                  <a:srgbClr val="0F2B58"/>
                </a:solidFill>
              </a:defRPr>
            </a:pPr>
            <a:r>
              <a:t>Model Merging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4389120"/>
            <a:ext cx="4928616" cy="429767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50" b="0">
                <a:solidFill>
                  <a:srgbClr val="172033"/>
                </a:solidFill>
              </a:defRPr>
            </a:pPr>
            <a:r>
              <a:t>Can sparse-basis interventions repair refusal while preserving capabilities?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886200"/>
            <a:ext cx="5257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F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4014215"/>
            <a:ext cx="4928616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250" b="1">
                <a:solidFill>
                  <a:srgbClr val="0F2B58"/>
                </a:solidFill>
              </a:defRPr>
            </a:pPr>
            <a:r>
              <a:t>Branch Specialization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4389120"/>
            <a:ext cx="4928616" cy="429767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50" b="0">
                <a:solidFill>
                  <a:srgbClr val="172033"/>
                </a:solidFill>
              </a:defRPr>
            </a:pPr>
            <a:r>
              <a:t>Are head role/family affinities real before stronger modularity claims?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73952"/>
            <a:ext cx="64008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900" b="0">
                <a:solidFill>
                  <a:srgbClr val="63748B"/>
                </a:solidFill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34747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950" b="1">
                <a:solidFill>
                  <a:srgbClr val="63748B"/>
                </a:solidFill>
              </a:defRPr>
            </a:pPr>
            <a:r>
              <a:t>NONLINEAR SAE SPINE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0789920" cy="102412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2800" b="1">
                <a:solidFill>
                  <a:srgbClr val="0F2B58"/>
                </a:solidFill>
              </a:defRPr>
            </a:pPr>
            <a:r>
              <a:t>Matched comparison before headline claims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810512"/>
            <a:ext cx="1033272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550" b="0">
                <a:solidFill>
                  <a:srgbClr val="172033"/>
                </a:solidFill>
              </a:defRPr>
            </a:pPr>
            <a:r>
              <a:t>Matched EV–L0 beat/loss maps come before global ranking and semantic interpretability claims.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06040"/>
            <a:ext cx="5303520" cy="1417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50" b="0">
                <a:solidFill>
                  <a:srgbClr val="0F3B74"/>
                </a:solidFill>
              </a:defRPr>
            </a:pPr>
            <a:r>
              <a:t>eligible runs → dead-neuron gate</a:t>
            </a:r>
            <a:br/>
            <a:r>
              <a:t>matched pairs → EV/L0 beat-loss</a:t>
            </a:r>
            <a:br/>
            <a:r>
              <a:t>global ranks → EV + reverse-L0 shortlist</a:t>
            </a:r>
            <a:br/>
            <a:r>
              <a:t>semantic lane → DAME/autointerp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514600"/>
            <a:ext cx="49377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F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2642616"/>
            <a:ext cx="4608576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250" b="1">
                <a:solidFill>
                  <a:srgbClr val="0F2B58"/>
                </a:solidFill>
              </a:defRPr>
            </a:pPr>
            <a:r>
              <a:t>Safe claim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3017520"/>
            <a:ext cx="4608576" cy="429767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50" b="0">
                <a:solidFill>
                  <a:srgbClr val="172033"/>
                </a:solidFill>
              </a:defRPr>
            </a:pPr>
            <a:r>
              <a:t>Nonlinear encoders can improve sparse support selection under matched comparisons.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840480"/>
            <a:ext cx="49377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F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3968496"/>
            <a:ext cx="4608576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250" b="1">
                <a:solidFill>
                  <a:srgbClr val="0F2B58"/>
                </a:solidFill>
              </a:defRPr>
            </a:pPr>
            <a:r>
              <a:t>Avoid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4343400"/>
            <a:ext cx="4608576" cy="429767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50" b="0">
                <a:solidFill>
                  <a:srgbClr val="172033"/>
                </a:solidFill>
              </a:defRPr>
            </a:pPr>
            <a:r>
              <a:t>Do not claim universal interpretability without semantic/redundancy gates.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73952"/>
            <a:ext cx="64008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900" b="0">
                <a:solidFill>
                  <a:srgbClr val="63748B"/>
                </a:solidFill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34747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950" b="1">
                <a:solidFill>
                  <a:srgbClr val="63748B"/>
                </a:solidFill>
              </a:defRPr>
            </a:pPr>
            <a:r>
              <a:t>VALUE ACTION SPINE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0789920" cy="102412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2800" b="1">
                <a:solidFill>
                  <a:srgbClr val="0F2B58"/>
                </a:solidFill>
              </a:defRPr>
            </a:pPr>
            <a:r>
              <a:t>S-lane presence vs answer-gap lane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810512"/>
            <a:ext cx="1033272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550" b="0">
                <a:solidFill>
                  <a:srgbClr val="172033"/>
                </a:solidFill>
              </a:defRPr>
            </a:pPr>
            <a:r>
              <a:t>S1/S2/S3 define discovery/presence; S4 captures pre-answer contribution gaps; V1/V2 validate causal decisiveness.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69748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F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825496"/>
            <a:ext cx="2916936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250" b="1">
                <a:solidFill>
                  <a:srgbClr val="0F2B58"/>
                </a:solidFill>
              </a:defRPr>
            </a:pPr>
            <a:r>
              <a:t>S1/S2/S3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200400"/>
            <a:ext cx="2916936" cy="704087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50" b="0">
                <a:solidFill>
                  <a:srgbClr val="172033"/>
                </a:solidFill>
              </a:defRPr>
            </a:pPr>
            <a:r>
              <a:t>presence + intensity screens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269748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F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2825496"/>
            <a:ext cx="2916936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250" b="1">
                <a:solidFill>
                  <a:srgbClr val="0F2B58"/>
                </a:solidFill>
              </a:defRPr>
            </a:pPr>
            <a:r>
              <a:t>S4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1" y="3200400"/>
            <a:ext cx="2916936" cy="704087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50" b="0">
                <a:solidFill>
                  <a:srgbClr val="172033"/>
                </a:solidFill>
              </a:defRPr>
            </a:pPr>
            <a:r>
              <a:t>pre-answer contribution gap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269748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F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1" y="2825496"/>
            <a:ext cx="2916936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250" b="1">
                <a:solidFill>
                  <a:srgbClr val="0F2B58"/>
                </a:solidFill>
              </a:defRPr>
            </a:pPr>
            <a:r>
              <a:t>V1/V2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1" y="3200400"/>
            <a:ext cx="2916936" cy="704087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50" b="0">
                <a:solidFill>
                  <a:srgbClr val="172033"/>
                </a:solidFill>
              </a:defRPr>
            </a:pPr>
            <a:r>
              <a:t>causal decisiveness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73952"/>
            <a:ext cx="64008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900" b="0">
                <a:solidFill>
                  <a:srgbClr val="63748B"/>
                </a:solidFill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34747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950" b="1">
                <a:solidFill>
                  <a:srgbClr val="8BD3FF"/>
                </a:solidFill>
              </a:defRPr>
            </a:pPr>
            <a:r>
              <a:t>THREAD CANVAS DISCIPLINE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0789920" cy="102412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2800" b="1">
                <a:solidFill>
                  <a:srgbClr val="EDF4FF"/>
                </a:solidFill>
              </a:defRPr>
            </a:pPr>
            <a:r>
              <a:t>Promote the small human-facing artifact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810512"/>
            <a:ext cx="1033272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550" b="0">
                <a:solidFill>
                  <a:srgbClr val="D6ECFF"/>
                </a:solidFill>
              </a:defRPr>
            </a:pPr>
            <a:r>
              <a:t>Paper-preview HTML, deck PDF/PPTX, contact sheet, and ledger are promoted; raw scratch files are not.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97480"/>
            <a:ext cx="3154680" cy="1463040"/>
          </a:xfrm>
          <a:prstGeom prst="roundRect">
            <a:avLst/>
          </a:prstGeom>
          <a:solidFill>
            <a:srgbClr val="121B31"/>
          </a:solidFill>
          <a:ln>
            <a:solidFill>
              <a:srgbClr val="2A3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825496"/>
            <a:ext cx="2825496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250" b="1">
                <a:solidFill>
                  <a:srgbClr val="EDF4FF"/>
                </a:solidFill>
              </a:defRPr>
            </a:pPr>
            <a:r>
              <a:t>Keep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200400"/>
            <a:ext cx="2825496" cy="84124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50" b="0">
                <a:solidFill>
                  <a:srgbClr val="D6ECFF"/>
                </a:solidFill>
              </a:defRPr>
            </a:pPr>
            <a:r>
              <a:t>paper preview HTML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697480"/>
            <a:ext cx="3154680" cy="1463040"/>
          </a:xfrm>
          <a:prstGeom prst="roundRect">
            <a:avLst/>
          </a:prstGeom>
          <a:solidFill>
            <a:srgbClr val="121B31"/>
          </a:solidFill>
          <a:ln>
            <a:solidFill>
              <a:srgbClr val="2A3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2825496"/>
            <a:ext cx="2825496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250" b="1">
                <a:solidFill>
                  <a:srgbClr val="EDF4FF"/>
                </a:solidFill>
              </a:defRPr>
            </a:pPr>
            <a:r>
              <a:t>Keep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3200400"/>
            <a:ext cx="2825496" cy="84124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50" b="0">
                <a:solidFill>
                  <a:srgbClr val="D6ECFF"/>
                </a:solidFill>
              </a:defRPr>
            </a:pPr>
            <a:r>
              <a:t>deck PDF/PPTX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697480"/>
            <a:ext cx="3154680" cy="1463040"/>
          </a:xfrm>
          <a:prstGeom prst="roundRect">
            <a:avLst/>
          </a:prstGeom>
          <a:solidFill>
            <a:srgbClr val="121B31"/>
          </a:solidFill>
          <a:ln>
            <a:solidFill>
              <a:srgbClr val="2A3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2825496"/>
            <a:ext cx="2825496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250" b="1">
                <a:solidFill>
                  <a:srgbClr val="EDF4FF"/>
                </a:solidFill>
              </a:defRPr>
            </a:pPr>
            <a:r>
              <a:t>Keep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3200400"/>
            <a:ext cx="2825496" cy="84124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50" b="0">
                <a:solidFill>
                  <a:srgbClr val="D6ECFF"/>
                </a:solidFill>
              </a:defRPr>
            </a:pPr>
            <a:r>
              <a:t>contact sheet + ledger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73952"/>
            <a:ext cx="64008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900" b="0">
                <a:solidFill>
                  <a:srgbClr val="9FB3D1"/>
                </a:solidFill>
              </a:defRPr>
            </a:pPr>
            <a: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34747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950" b="1">
                <a:solidFill>
                  <a:srgbClr val="63748B"/>
                </a:solidFill>
              </a:defRPr>
            </a:pPr>
            <a:r>
              <a:t>PAPER-PLAN CANVAS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0789920" cy="102412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2800" b="1">
                <a:solidFill>
                  <a:srgbClr val="0F2B58"/>
                </a:solidFill>
              </a:defRPr>
            </a:pPr>
            <a:r>
              <a:t>Every result gets a manuscript 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810512"/>
            <a:ext cx="1033272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550" b="0">
                <a:solidFill>
                  <a:srgbClr val="172033"/>
                </a:solidFill>
              </a:defRPr>
            </a:pPr>
            <a:r>
              <a:t>Each result receives a main-paper section, appendix location, evidence class, claim boundary, and next gate.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06040"/>
            <a:ext cx="10698480" cy="23774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400" b="0">
                <a:solidFill>
                  <a:srgbClr val="0F3B74"/>
                </a:solidFill>
              </a:defRPr>
            </a:pPr>
            <a:r>
              <a:t>Result                         Main        Appx     Gate</a:t>
            </a:r>
            <a:br/>
            <a:r>
              <a:t>ResNet vs Linear EV–L0       RQ1         D        show wins and losses</a:t>
            </a:r>
            <a:br/>
            <a:r>
              <a:t>DAME semantic diagnostics     RQ2/Appx    E/F      dominance-aware validation</a:t>
            </a:r>
            <a:br/>
            <a:r>
              <a:t>ConsVal row-level tiers       RQ2         C/D      pooled vs order-robust labels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64008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900" b="0">
                <a:solidFill>
                  <a:srgbClr val="63748B"/>
                </a:solidFill>
              </a:defRPr>
            </a:pPr>
            <a: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34747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950" b="1">
                <a:solidFill>
                  <a:srgbClr val="63748B"/>
                </a:solidFill>
              </a:defRPr>
            </a:pPr>
            <a:r>
              <a:t>QA STANDARD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0789920" cy="102412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2800" b="1">
                <a:solidFill>
                  <a:srgbClr val="0F2B58"/>
                </a:solidFill>
              </a:defRPr>
            </a:pPr>
            <a:r>
              <a:t>Decks are rendered artifacts, not outlines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810512"/>
            <a:ext cx="1033272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550" b="0">
                <a:solidFill>
                  <a:srgbClr val="172033"/>
                </a:solidFill>
              </a:defRPr>
            </a:pPr>
            <a:r>
              <a:t>PPTX is rendered to PDF, slide images/contact sheet are inspected, and dense pages are fixed before delivery.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697480"/>
            <a:ext cx="3108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F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825496"/>
            <a:ext cx="2779776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250" b="1">
                <a:solidFill>
                  <a:srgbClr val="0F2B58"/>
                </a:solidFill>
              </a:defRPr>
            </a:pPr>
            <a:r>
              <a:t>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200400"/>
            <a:ext cx="2779776" cy="79552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50" b="0">
                <a:solidFill>
                  <a:srgbClr val="172033"/>
                </a:solidFill>
              </a:defRPr>
            </a:pPr>
            <a:r>
              <a:t>Render before delivery.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697480"/>
            <a:ext cx="3108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F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2825496"/>
            <a:ext cx="2779776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250" b="1">
                <a:solidFill>
                  <a:srgbClr val="0F2B58"/>
                </a:solidFill>
              </a:defRPr>
            </a:pPr>
            <a:r>
              <a:t>Contact sheet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2" y="3200400"/>
            <a:ext cx="2779776" cy="79552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50" b="0">
                <a:solidFill>
                  <a:srgbClr val="172033"/>
                </a:solidFill>
              </a:defRPr>
            </a:pPr>
            <a:r>
              <a:t>Inspect for clipping and overflow.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697480"/>
            <a:ext cx="3108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F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2825496"/>
            <a:ext cx="2779776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250" b="1">
                <a:solidFill>
                  <a:srgbClr val="0F2B58"/>
                </a:solidFill>
              </a:defRPr>
            </a:pPr>
            <a:r>
              <a:t>Backing 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3200400"/>
            <a:ext cx="2779776" cy="79552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50" b="0">
                <a:solidFill>
                  <a:srgbClr val="172033"/>
                </a:solidFill>
              </a:defRPr>
            </a:pPr>
            <a:r>
              <a:t>Link CSV/HTML/source.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73952"/>
            <a:ext cx="64008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900" b="0">
                <a:solidFill>
                  <a:srgbClr val="63748B"/>
                </a:solidFill>
              </a:defRPr>
            </a:pPr>
            <a: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3474720" cy="2286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950" b="1">
                <a:solidFill>
                  <a:srgbClr val="8BD3FF"/>
                </a:solidFill>
              </a:defRPr>
            </a:pPr>
            <a:r>
              <a:t>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0789920" cy="102412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2600" b="1">
                <a:solidFill>
                  <a:srgbClr val="EDF4FF"/>
                </a:solidFill>
              </a:defRPr>
            </a:pPr>
            <a:r>
              <a:t>The skill library is a research operating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810512"/>
            <a:ext cx="1033272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550" b="0">
                <a:solidFill>
                  <a:srgbClr val="D6ECFF"/>
                </a:solidFill>
              </a:defRPr>
            </a:pPr>
            <a:r>
              <a:t>Reusable skills encode source-of-truth files, artifact curation, paper placement, deck QA, and safe claims.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97480"/>
            <a:ext cx="1463040" cy="292608"/>
          </a:xfrm>
          <a:prstGeom prst="roundRect">
            <a:avLst/>
          </a:prstGeom>
          <a:solidFill>
            <a:srgbClr val="0F2544"/>
          </a:solidFill>
          <a:ln>
            <a:solidFill>
              <a:srgbClr val="3E6D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EDF4FF"/>
                </a:solidFill>
              </a:defRPr>
            </a:pPr>
            <a:r>
              <a:t>show 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06039" y="2697480"/>
            <a:ext cx="1463040" cy="292608"/>
          </a:xfrm>
          <a:prstGeom prst="roundRect">
            <a:avLst/>
          </a:prstGeom>
          <a:solidFill>
            <a:srgbClr val="0F2544"/>
          </a:solidFill>
          <a:ln>
            <a:solidFill>
              <a:srgbClr val="3E6D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EDF4FF"/>
                </a:solidFill>
              </a:defRPr>
            </a:pPr>
            <a:r>
              <a:t>show gates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2697480"/>
            <a:ext cx="1463040" cy="292608"/>
          </a:xfrm>
          <a:prstGeom prst="roundRect">
            <a:avLst/>
          </a:prstGeom>
          <a:solidFill>
            <a:srgbClr val="0F2544"/>
          </a:solidFill>
          <a:ln>
            <a:solidFill>
              <a:srgbClr val="3E6D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EDF4FF"/>
                </a:solidFill>
              </a:defRPr>
            </a:pPr>
            <a:r>
              <a:t>show artifacts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79" y="2697480"/>
            <a:ext cx="1463040" cy="292608"/>
          </a:xfrm>
          <a:prstGeom prst="roundRect">
            <a:avLst/>
          </a:prstGeom>
          <a:solidFill>
            <a:srgbClr val="0F2544"/>
          </a:solidFill>
          <a:ln>
            <a:solidFill>
              <a:srgbClr val="3E6D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EDF4FF"/>
                </a:solidFill>
              </a:defRPr>
            </a:pPr>
            <a:r>
              <a:t>show next step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520440"/>
            <a:ext cx="9875520" cy="1234440"/>
          </a:xfrm>
          <a:prstGeom prst="roundRect">
            <a:avLst/>
          </a:prstGeom>
          <a:solidFill>
            <a:srgbClr val="121B31"/>
          </a:solidFill>
          <a:ln>
            <a:solidFill>
              <a:srgbClr val="2A3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3648456"/>
            <a:ext cx="9546336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250" b="1">
                <a:solidFill>
                  <a:srgbClr val="EDF4FF"/>
                </a:solidFill>
              </a:defRPr>
            </a:pPr>
            <a:r>
              <a:t>Public-safe showcase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4023360"/>
            <a:ext cx="9546336" cy="61264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50" b="0">
                <a:solidFill>
                  <a:srgbClr val="D6ECFF"/>
                </a:solidFill>
              </a:defRPr>
            </a:pPr>
            <a:r>
              <a:t>This repo shows the workflow shape and standards without exposing raw private data or secrets.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73952"/>
            <a:ext cx="640080" cy="1828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900" b="0">
                <a:solidFill>
                  <a:srgbClr val="9FB3D1"/>
                </a:solidFill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