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corrected final Linear vs ResNet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Layout-safe rebuild: no overflow diagrams; all six Method-2 top-10s; corrected gated + Matryoshka rows.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34440"/>
            <a:ext cx="3118104" cy="1252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6A34A"/>
                </a:solidFill>
              </a:rPr>
              <a:t>Data universe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Completed rows: 200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Ranking eligible: 164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Dead-filter omitted: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4300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234440"/>
            <a:ext cx="3392424" cy="1252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Default #1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41F31"/>
                </a:solidFill>
              </a:rPr>
              <a:t>ResNet/BatchTopK 8k k=75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41F31"/>
                </a:solidFill>
              </a:rPr>
              <a:t>EV=0.7768; L0=75.0; H2=53.3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1430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7" y="1234440"/>
            <a:ext cx="3209544" cy="1252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EA580C"/>
                </a:solidFill>
              </a:rPr>
              <a:t>Matched pairs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100 exact family×width×sparsity pairs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Beat=61; Loss=16; Trade=23; Tie=0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7180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63240"/>
            <a:ext cx="5038344" cy="106984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6D28D9"/>
                </a:solidFill>
              </a:rPr>
              <a:t>Corrected versions used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Gated = shared/tied ResNet-gated (`nonlinear_resnet_tied_gated`).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Matryoshka = corrected multi-ResNet TopK (`matryoshka_multi_resnet_topk`).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926080"/>
          <a:ext cx="23774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502920"/>
                <a:gridCol w="502920"/>
              </a:tblGrid>
              <a:tr h="4724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Arch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Elig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Omit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4724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50">
                          <a:solidFill>
                            <a:srgbClr val="141F31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Omitted rows are completed runs failing dead_features/d_sae &lt;= 10%; they are omitted from rankings, not missing.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six-variant correlation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Old value-normalized H2 variants; corr = rank correlation vs default global rank-H2.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6784848" cy="2743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02920"/>
                <a:gridCol w="2240280"/>
                <a:gridCol w="685800"/>
                <a:gridCol w="594360"/>
                <a:gridCol w="658368"/>
                <a:gridCol w="685800"/>
              </a:tblGrid>
              <a:tr h="39188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corr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Res@10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BTK@10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9188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raw min/max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Lin/TopK/8k/k=500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0.9858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raw 1–99 pct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0.533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Lin/BTK/8k/k=300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9188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raw 5–95 pct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Lin/BTK/8k/k=300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raw mean±1SD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0.763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Res/BTK/8k/k=200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0.8899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9188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log L0 1–99 pct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Res/BTK/8k/k=100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0.8099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log L0 5–95 pct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0.991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Res/BTK/8k/k=100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0.8099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19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43400"/>
            <a:ext cx="10607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387584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41F31"/>
                </a:solidFill>
              </a:rPr>
              <a:t>Interpretation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High corr means the value-normalized variant preserves the default global EV/L0 H2 ordering. Low corr means the variant changes the tradeoff geometry substantially, so its top-10 deserves a separate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Dead-filter remains an eligibility gate only; not a term in H2.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Default top 10: global EV/L0 percentile H2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Rows split 1–5 and 6–10 to prevent table overflow.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0.8099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53.2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52.6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52.2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0.8426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52.0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526279"/>
            <a:ext cx="10296144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Formula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EV percentile: higher is better. Sparse percentile: lower L0 is better. H2 = harmonic mean of the two percentiles.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gpt2_rank_h2_ranked.csv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top 10: raw min/max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Value-normalized EV/L0 H2. Rank correlation vs default global rank-H2 = 0.494.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0.9855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88.9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gpt2_raw_minmax_ranked.csv and gpt2_raw_minmax_top10.csv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top 10: raw 1–99 pct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Value-normalized EV/L0 H2. Rank correlation vs default global rank-H2 = 0.533.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0.9292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87.0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86.9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gpt2_raw_p01p99_ranked.csv and gpt2_raw_p01p99_top10.csv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top 10: raw 5–95 pct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Value-normalized EV/L0 H2. Rank correlation vs default global rank-H2 = 0.649.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84.6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84.4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0.9196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83.3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0.8899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83.2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gpt2_raw_p05p95_ranked.csv and gpt2_raw_p05p95_top10.csv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top 10: raw mean±1SD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Value-normalized EV/L0 H2. Rank correlation vs default global rank-H2 = 0.763.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0.8849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81.1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0.8592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80.1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0.8762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79.8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0.8704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78.9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gpt2_raw_meanstd_ranked.csv and gpt2_raw_meanstd_top10.csv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top 10: log L0 1–99 pct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Value-normalized EV/L0 H2. Rank correlation vs default global rank-H2 = 0.986.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0.7768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59.8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59.2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58.9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58.5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gpt2_logl0_p01p99_ranked.csv and gpt2_logl0_p01p99_top10.csv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Method-2 top 10: log L0 5–95 pct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Value-normalized EV/L0 H2. Rank correlation vs default global rank-H2 = 0.991.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0.7768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57.4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0.8592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56.5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600200"/>
          <a:ext cx="3867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"/>
                <a:gridCol w="411480"/>
                <a:gridCol w="502920"/>
                <a:gridCol w="365760"/>
                <a:gridCol w="566928"/>
                <a:gridCol w="658368"/>
                <a:gridCol w="566928"/>
                <a:gridCol w="502920"/>
              </a:tblGrid>
              <a:tr h="35814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Spars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Lin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0.7929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56.3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0.8488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55.8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5814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0.7881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55.8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1–5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16152"/>
            <a:ext cx="5440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5221224" cy="1280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ranks 6–10</a:t>
            </a:r>
          </a:p>
          <a:p>
            <a:pPr>
              <a:spcBef>
                <a:spcPts val="200"/>
              </a:spcBef>
            </a:pPr>
            <a:r>
              <a:rPr sz="100">
                <a:solidFill>
                  <a:srgbClr val="141F3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gpt2_logl0_p05p95_ranked.csv and gpt2_logl0_p05p95_top10.csv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Matched ResNet-vs-Linear beat/loss by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Each cell is 10 exact matched sparsity settings: same family × same width × same L1 or 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47548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11480"/>
                <a:gridCol w="502920"/>
                <a:gridCol w="502920"/>
                <a:gridCol w="594360"/>
                <a:gridCol w="411480"/>
                <a:gridCol w="868680"/>
                <a:gridCol w="868680"/>
              </a:tblGrid>
              <a:tr h="399010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Beat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Trade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mean ΔEV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30" b="1">
                          <a:solidFill>
                            <a:srgbClr val="FFFFFF"/>
                          </a:solidFill>
                        </a:defRPr>
                      </a:pPr>
                      <a:r>
                        <a:t>mean ΔL0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-0.1156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+257.1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-0.1423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+218.9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-0.0254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+178.6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Gated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-0.0267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+176.4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+0.0057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+0.0073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+0.0069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30">
                          <a:solidFill>
                            <a:srgbClr val="141F31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15000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806440"/>
            <a:ext cx="10296144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EA580C"/>
                </a:solidFill>
              </a:rPr>
              <a:t>Definitions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41F31"/>
                </a:solidFill>
              </a:rPr>
              <a:t>Beat = ResNet EV non-worse and L0 non-worse, with at least one strict improvement. Loss is the reverse. Trade means EV and L0 move in opposite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Full CSV: gpt2_matched_resnet_vs_linear_pairs.csv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concentration overview for available k-family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Lower top-10/top-50 dominance concentration is better: less activation mass is carried by a few broad/high-dominance features.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5577840" cy="3566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11480"/>
                <a:gridCol w="777240"/>
                <a:gridCol w="685800"/>
                <a:gridCol w="868680"/>
                <a:gridCol w="868680"/>
                <a:gridCol w="685800"/>
                <a:gridCol w="685800"/>
              </a:tblGrid>
              <a:tr h="509451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 B/L/T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C10 B/L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mean ΔC10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mean ΔC50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Lin C10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 C10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509451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7/3/0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-0.039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TopK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8/2/0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7/3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-0.006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-0.007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9451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7/3/0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7/3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+0.025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+0.032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Mat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8/2/0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9/1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+0.039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+0.049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9451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7/3/0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6/4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-0.005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-0.019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BTK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8/2/0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8/2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+0.007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00">
                          <a:solidFill>
                            <a:srgbClr val="141F31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7492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166359"/>
            <a:ext cx="10296144" cy="6583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How to read</a:t>
            </a:r>
          </a:p>
          <a:p>
            <a:pPr>
              <a:spcBef>
                <a:spcPts val="200"/>
              </a:spcBef>
            </a:pPr>
            <a:r>
              <a:rPr sz="960">
                <a:solidFill>
                  <a:srgbClr val="141F31"/>
                </a:solidFill>
              </a:rPr>
              <a:t>C10/C50 are fractions of total activation magnitude explained by the top 10/50 dominance features. A green COut row in the following slides means ResNet is less concentrated than the matched Linear 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Dominance concentration aggregates exist for TopK, corrected Matryoshka, and BatchTopK rows in the current dominance-aware metrics package.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Standard detailed ResNet-vs-Linear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All 20 matched rows included, including dead-neuron-bad rows. Within each width: sorted by Linear L0 low→high.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19">
                <a:solidFill>
                  <a:srgbClr val="141F31"/>
                </a:solidFill>
              </a:rPr>
              <a:t>Legend: B=green ResNet beats; L=red loss; T:EV+=orange EV higher/L0 worse; T:L0+=purple L0 lower/EV worse; D%*=dead_frac&gt;10%; ΔL0=Linear L0−ResNet L0.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99%*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0.202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95%*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-0.294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87%*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0.554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80%*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-0.118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+63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80%*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84%*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-0.134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61%*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1172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766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35%*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+406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27%*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1714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41%*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+777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32504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0.542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0.165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99%*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-0.377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89%*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0.443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95%*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-0.262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96%*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0.842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0.844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31%*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1655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0.962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1388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2906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13%*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+706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Standard: 2 widths × 10 sparsity settings. Rows are not dead-filtered on this appendix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Gated detailed ResNet-vs-Linear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All 20 matched rows included, including dead-neuron-bad rows. Within each width: sorted by Linear L0 low→high.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19">
                <a:solidFill>
                  <a:srgbClr val="141F31"/>
                </a:solidFill>
              </a:rPr>
              <a:t>Legend: B=green ResNet beats; L=red loss; T:EV+=orange EV higher/L0 worse; T:L0+=purple L0 lower/EV worse; D%*=dead_frac&gt;10%; ΔL0=Linear L0−ResNet L0.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70%*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0.556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69%*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-0.059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73%*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0.798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83%*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-0.114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+52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47%*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T:EV+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456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27%*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1130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27%*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36%*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52%*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+754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32504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74%*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0.653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73%*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-0.049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95%*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60%*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T:EV+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34%*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T:EV+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T:EV+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T:EV+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1554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1304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+250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14%*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T:L0+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L0.1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2304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1220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30%*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+1084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Gated: 2 widths × 10 sparsity settings. Rows are not dead-filtered on this appendix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TopK detailed ResNet-vs-Linear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All 20 matched rows included, including dead-neuron-bad rows. Within each width: sorted by Linear L0 low→high.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19">
                <a:solidFill>
                  <a:srgbClr val="141F31"/>
                </a:solidFill>
              </a:rPr>
              <a:t>Legend: B=green ResNet beats; L=red loss; T:EV+=orange EV higher/L0 worse; T:L0+=purple L0 lower/EV worse; D%*=dead_frac&gt;10%; ΔL0=Linear L0−ResNet L0.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32504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0.783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TopK: 2 widths × 10 sparsity settings. Rows are not dead-filtered on this appendix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TopK concentration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Same matched rows, now asking whether ResNet puts less activation mass in top-dominance features. Lower concentration is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80">
                <a:solidFill>
                  <a:srgbClr val="141F31"/>
                </a:solidFill>
              </a:rPr>
              <a:t>Legend: EV/L0 keeps the same colors as the main table. COut: B=green ResNet lower top-10 concentration; L=red higher concentration. ΔC columns are Linear−ResNet, so positive is better for ResNet.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6537956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"/>
                <a:gridCol w="512064"/>
                <a:gridCol w="512064"/>
                <a:gridCol w="512064"/>
                <a:gridCol w="493776"/>
                <a:gridCol w="521207"/>
                <a:gridCol w="521207"/>
                <a:gridCol w="530352"/>
                <a:gridCol w="438912"/>
                <a:gridCol w="521207"/>
                <a:gridCol w="521207"/>
                <a:gridCol w="530352"/>
              </a:tblGrid>
              <a:tr h="192855"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EV/L0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032504"/>
          <a:ext cx="6537956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"/>
                <a:gridCol w="512064"/>
                <a:gridCol w="512064"/>
                <a:gridCol w="512064"/>
                <a:gridCol w="493776"/>
                <a:gridCol w="521207"/>
                <a:gridCol w="521207"/>
                <a:gridCol w="530352"/>
                <a:gridCol w="438912"/>
                <a:gridCol w="521207"/>
                <a:gridCol w="521207"/>
                <a:gridCol w="530352"/>
              </a:tblGrid>
              <a:tr h="192855"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EV/L0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0.783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Concentration = dominance mass: sum of largest per-feature D_i values. This is a diagnostic, not part of EV/L0 ranking.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Matryoshka detailed ResNet-vs-Linear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All 20 matched rows included, including dead-neuron-bad rows. Within each width: sorted by Linear L0 low→high.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19">
                <a:solidFill>
                  <a:srgbClr val="141F31"/>
                </a:solidFill>
              </a:rPr>
              <a:t>Legend: B=green ResNet beats; L=red loss; T:EV+=orange EV higher/L0 worse; T:L0+=purple L0 lower/EV worse; D%*=dead_frac&gt;10%; ΔL0=Linear L0−ResNet L0.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0.780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32504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0.599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Matryoshka: 2 widths × 10 sparsity settings. Rows are not dead-filtered on this appendix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Matryoshka concentration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Same matched rows, now asking whether ResNet puts less activation mass in top-dominance features. Lower concentration is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80">
                <a:solidFill>
                  <a:srgbClr val="141F31"/>
                </a:solidFill>
              </a:rPr>
              <a:t>Legend: EV/L0 keeps the same colors as the main table. COut: B=green ResNet lower top-10 concentration; L=red higher concentration. ΔC columns are Linear−ResNet, so positive is better for ResNet.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6537956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"/>
                <a:gridCol w="512064"/>
                <a:gridCol w="512064"/>
                <a:gridCol w="512064"/>
                <a:gridCol w="493776"/>
                <a:gridCol w="521207"/>
                <a:gridCol w="521207"/>
                <a:gridCol w="530352"/>
                <a:gridCol w="438912"/>
                <a:gridCol w="521207"/>
                <a:gridCol w="521207"/>
                <a:gridCol w="530352"/>
              </a:tblGrid>
              <a:tr h="192855"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EV/L0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0.780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032504"/>
          <a:ext cx="6537956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"/>
                <a:gridCol w="512064"/>
                <a:gridCol w="512064"/>
                <a:gridCol w="512064"/>
                <a:gridCol w="493776"/>
                <a:gridCol w="521207"/>
                <a:gridCol w="521207"/>
                <a:gridCol w="530352"/>
                <a:gridCol w="438912"/>
                <a:gridCol w="521207"/>
                <a:gridCol w="521207"/>
                <a:gridCol w="530352"/>
              </a:tblGrid>
              <a:tr h="192855"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EV/L0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0.599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Concentration = dominance mass: sum of largest per-feature D_i values. This is a diagnostic, not part of EV/L0 ranking.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BatchTopK detailed ResNet-vs-Linear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All 20 matched rows included, including dead-neuron-bad rows. Within each width: sorted by Linear L0 low→high.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819">
                <a:solidFill>
                  <a:srgbClr val="141F31"/>
                </a:solidFill>
              </a:rPr>
              <a:t>Legend: B=green ResNet beats; L=red loss; T:EV+=orange EV higher/L0 worse; T:L0+=purple L0 lower/EV worse; D%*=dead_frac&gt;10%; ΔL0=Linear L0−ResNet L0.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0.962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32504"/>
          <a:ext cx="11109960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92855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LinD%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ResD%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ΔL0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+0.005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  <a:tr h="192855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0.961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-0.025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0">
                          <a:solidFill>
                            <a:srgbClr val="141F31"/>
                          </a:solidFill>
                        </a:defRPr>
                      </a:pPr>
                      <a:r>
                        <a:t>-0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BatchTopK: 2 widths × 10 sparsity settings. Rows are not dead-filtered on this appendix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GPT-2 Small: BatchTopK concentration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Same matched rows, now asking whether ResNet puts less activation mass in top-dominance features. Lower concentration is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80">
                <a:solidFill>
                  <a:srgbClr val="141F31"/>
                </a:solidFill>
              </a:rPr>
              <a:t>Legend: EV/L0 keeps the same colors as the main table. COut: B=green ResNet lower top-10 concentration; L=red higher concentration. ΔC columns are Linear−ResNet, so positive is better for ResNet.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0D9488"/>
                </a:solidFill>
              </a:rPr>
              <a:t>4k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6537956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"/>
                <a:gridCol w="512064"/>
                <a:gridCol w="512064"/>
                <a:gridCol w="512064"/>
                <a:gridCol w="493776"/>
                <a:gridCol w="521207"/>
                <a:gridCol w="521207"/>
                <a:gridCol w="530352"/>
                <a:gridCol w="438912"/>
                <a:gridCol w="521207"/>
                <a:gridCol w="521207"/>
                <a:gridCol w="530352"/>
              </a:tblGrid>
              <a:tr h="192855"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EV/L0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ΔC10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ΔC50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0.588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0.962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94760"/>
            <a:ext cx="100584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50" b="1">
                <a:solidFill>
                  <a:srgbClr val="6D28D9"/>
                </a:solidFill>
              </a:rPr>
              <a:t>8k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032504"/>
          <a:ext cx="6537956" cy="212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"/>
                <a:gridCol w="512064"/>
                <a:gridCol w="512064"/>
                <a:gridCol w="512064"/>
                <a:gridCol w="493776"/>
                <a:gridCol w="521207"/>
                <a:gridCol w="521207"/>
                <a:gridCol w="530352"/>
                <a:gridCol w="438912"/>
                <a:gridCol w="521207"/>
                <a:gridCol w="521207"/>
                <a:gridCol w="530352"/>
              </a:tblGrid>
              <a:tr h="192855"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HP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ResEV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EV/L0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ΔC10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LinC50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ResC50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ΔC50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2855"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k500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0.961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1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3716" rIns="13716" tIns="7315" bIns="7315" anchor="ctr"/>
                    <a:lstStyle/>
                    <a:p>
                      <a:pPr algn="ctr">
                        <a:defRPr sz="615" b="0">
                          <a:solidFill>
                            <a:srgbClr val="141F31"/>
                          </a:solidFill>
                        </a:defRPr>
                      </a:pPr>
                      <a:r>
                        <a:t>+0.07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Concentration = dominance mass: sum of largest per-feature D_i values. This is a diagnostic, not part of EV/L0 ranking.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What happened to rows omitted from rankings?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They completed, but failed the dead-feature eligibility gate.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4160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594360"/>
                <a:gridCol w="411480"/>
                <a:gridCol w="502920"/>
                <a:gridCol w="502920"/>
                <a:gridCol w="731520"/>
                <a:gridCol w="731520"/>
              </a:tblGrid>
              <a:tr h="530352"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Arch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Fam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Elig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Omit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med dead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  <a:tc>
                  <a:txBody>
                    <a:bodyPr lIns="18288" rIns="18288" tIns="9144" bIns="9144" anchor="ctr"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max dead</a:t>
                      </a:r>
                    </a:p>
                  </a:txBody>
                  <a:tcPr>
                    <a:solidFill>
                      <a:srgbClr val="141F31"/>
                    </a:solidFill>
                  </a:tcPr>
                </a:tc>
              </a:tr>
              <a:tr h="530352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Gated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94.7%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79.9%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none" lIns="18288" rIns="18288" tIns="9144" bIns="9144" anchor="ctr"/>
                    <a:lstStyle/>
                    <a:p>
                      <a:pPr algn="ctr">
                        <a:defRPr sz="840">
                          <a:solidFill>
                            <a:srgbClr val="141F31"/>
                          </a:solidFill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4340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296144" cy="7498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B91C1C"/>
                </a:solidFill>
              </a:rPr>
              <a:t>Rule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Ranking slides use only rows with dead_features/d_sae &lt;= 10%. Beat/loss tables still use all 100 exact matched pairs unless otherwise stated.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This explains the 160/200 OPT and 164/200 GPT eligible counts.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Metric explainer: cosine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How much one pair contributes to a weighted semantic-coherence cosine numerator.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34440"/>
            <a:ext cx="5084064" cy="1344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Objects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Example i has embedding e_i and activation a_i for a feature. Example j has embedding e_j and activation a_j. Cosine similarity is cos(e_i,e_j).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234440"/>
            <a:ext cx="4946904" cy="1344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6D28D9"/>
                </a:solidFill>
              </a:rPr>
              <a:t>Pair contribution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contribution_ij = a_i × a_j × cos(e_i,e_j)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Large positive if both examples strongly activate the feature and their text/image embeddings point in similar directions.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10744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246120"/>
            <a:ext cx="10524744" cy="886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41F31"/>
                </a:solidFill>
              </a:rPr>
              <a:t>How to read it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41F31"/>
                </a:solidFill>
              </a:rPr>
              <a:t>It is not a final normalized score by itself. It is a numerator term: a highly active, semantically similar pair pushes the weighted-cosine score up; an active but semantically unrelated/opposite pair contributes little or negative.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00600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892040"/>
            <a:ext cx="10524744" cy="61264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EA580C"/>
                </a:solidFill>
              </a:rPr>
              <a:t>Tiny example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41F31"/>
                </a:solidFill>
              </a:rPr>
              <a:t>If a_i=3, a_j=2, cosine=0.8, contribution=4.8. If cosine=0.1, contribution=0.6. Same activations, much weaker semantic coherence.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Use this term only when decomposing a weighted-cosine / MS-style score into pairwise numerator pieces.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Metric explainer: weighted cosine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Activation-weighted average semantic similarity among examples for one feature.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44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88720"/>
            <a:ext cx="10524744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Formula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41F31"/>
                </a:solidFill>
              </a:rPr>
              <a:t>weighted cosine(feature k) = Σ_{i&lt;j} a_i,k a_j,k cos(e_i,e_j) / Σ_{i&lt;j} a_i,k a_j,k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606040"/>
            <a:ext cx="5038344" cy="11612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41F31"/>
                </a:solidFill>
              </a:rPr>
              <a:t>Plain English</a:t>
            </a:r>
          </a:p>
          <a:p>
            <a:pPr>
              <a:spcBef>
                <a:spcPts val="200"/>
              </a:spcBef>
            </a:pPr>
            <a:r>
              <a:rPr sz="1070">
                <a:solidFill>
                  <a:srgbClr val="141F31"/>
                </a:solidFill>
              </a:rPr>
              <a:t>Look at examples where feature k activates. Pairs where k fires strongly on both examples matter most. Average their embedding cosine similarities.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51460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2606040"/>
            <a:ext cx="5038344" cy="11612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6A34A"/>
                </a:solidFill>
              </a:rPr>
              <a:t>What high means</a:t>
            </a:r>
          </a:p>
          <a:p>
            <a:pPr>
              <a:spcBef>
                <a:spcPts val="200"/>
              </a:spcBef>
            </a:pPr>
            <a:r>
              <a:rPr sz="1070">
                <a:solidFill>
                  <a:srgbClr val="141F31"/>
                </a:solidFill>
              </a:rPr>
              <a:t>High: the feature fires on semantically similar contexts/images. Low: it fires on a mixed bag. Negative: strong activations are on semantically opposed embedding directions.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10744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526279"/>
            <a:ext cx="10524744" cy="7040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6D28D9"/>
                </a:solidFill>
              </a:rPr>
              <a:t>Difference from unweighted cosine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41F31"/>
                </a:solidFill>
              </a:rPr>
              <a:t>Unweighted top-K cosine treats selected examples equally. Weighted cosine lets stronger activations dominate, so it asks: when this feature really fires, are those examples semantically coherent?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This is the MS-score-style semantic coherence calculation used in the monosemanticity notes, not an EV/L0 ranking term.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Metric explainer: Jaccard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Overlap of two features’ active-example sets, ignoring activation magnitude.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44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34440"/>
            <a:ext cx="10524744" cy="7955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0D9488"/>
                </a:solidFill>
              </a:rPr>
              <a:t>Formula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41F31"/>
                </a:solidFill>
              </a:rPr>
              <a:t>Jaccard(A,B) = |A ∩ B| / |A ∪ B|, where A and B are the examples/tokens where each feature is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697480"/>
            <a:ext cx="5038344" cy="11155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41F31"/>
                </a:solidFill>
              </a:rPr>
              <a:t>Plain English</a:t>
            </a:r>
          </a:p>
          <a:p>
            <a:pPr>
              <a:spcBef>
                <a:spcPts val="200"/>
              </a:spcBef>
            </a:pPr>
            <a:r>
              <a:rPr sz="1070">
                <a:solidFill>
                  <a:srgbClr val="141F31"/>
                </a:solidFill>
              </a:rPr>
              <a:t>It asks: do these two features turn on for the same examples? 1.0 = always same active set. 0.0 = no shared active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0604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2697480"/>
            <a:ext cx="5038344" cy="11155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6A34A"/>
                </a:solidFill>
              </a:rPr>
              <a:t>What it is good for</a:t>
            </a:r>
          </a:p>
          <a:p>
            <a:pPr>
              <a:spcBef>
                <a:spcPts val="200"/>
              </a:spcBef>
            </a:pPr>
            <a:r>
              <a:rPr sz="1070">
                <a:solidFill>
                  <a:srgbClr val="141F31"/>
                </a:solidFill>
              </a:rPr>
              <a:t>Redundancy / neighbor finding. If two features have high Jaccard, they may cover the same data even if decoder directions or explanations differ.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10744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10524744" cy="6583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6D28D9"/>
                </a:solidFill>
              </a:rPr>
              <a:t>Difference from weighted cosine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41F31"/>
                </a:solidFill>
              </a:rPr>
              <a:t>Jaccard is set overlap of firing events. Weighted cosine is semantic similarity among examples, weighted by activation strength. High Jaccard does not require semantically coherent examples; high weighted cosine does.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For thresholded activations only; it does not use EV/L0 directly.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200" b="1">
                <a:solidFill>
                  <a:srgbClr val="141F31"/>
                </a:solidFill>
              </a:rPr>
              <a:t>Readout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40080"/>
            <a:ext cx="11292840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50">
                <a:solidFill>
                  <a:srgbClr val="4B5563"/>
                </a:solidFill>
              </a:rPr>
              <a:t>This deck is final for Linear 100 vs corrected/final ResNet 100 only.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371600"/>
            <a:ext cx="10113264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6A34A"/>
                </a:solidFill>
              </a:rPr>
              <a:t>Included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Linear no-Aux core5: 100 rows. Corrected/final ResNet no-Aux: Standard, tied-Gated, TopK, corrected Matryoshka, BatchTopK = 100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80360"/>
            <a:ext cx="10332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971800"/>
            <a:ext cx="10113264" cy="9784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6D28D9"/>
                </a:solidFill>
              </a:rPr>
              <a:t>Not included yet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41F31"/>
                </a:solidFill>
              </a:rPr>
              <a:t>Pure nonlinear/no-skip and parameter-matched wider-linear controls are separate runners and should not be folded into these claims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10332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572000"/>
            <a:ext cx="10113264" cy="61264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20" b="1">
                <a:solidFill>
                  <a:srgbClr val="141F31"/>
                </a:solidFill>
              </a:rPr>
              <a:t>Layout note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141F31"/>
                </a:solidFill>
              </a:rPr>
              <a:t>This safe rebuild intentionally avoids oversized plots; tables are split and abbreviated so text stays inside slide bounds.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9672"/>
            <a:ext cx="11384280" cy="1828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700">
                <a:solidFill>
                  <a:srgbClr val="4B5563"/>
                </a:solidFill>
              </a:rPr>
              <a:t>Generated from corrected_final_opt_gpt ranking CSVs.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